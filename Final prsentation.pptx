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IBM Plex Sans" panose="020B0503050203000203" pitchFamily="34" charset="0"/>
      <p:regular r:id="rId12"/>
    </p:embeddedFont>
    <p:embeddedFont>
      <p:font typeface="IBM Plex Sans Bold" panose="020B0604020202020204" charset="0"/>
      <p:regular r:id="rId13"/>
    </p:embeddedFont>
    <p:embeddedFont>
      <p:font typeface="IBM Plex Sans SemiBold" panose="020B0703050203000203" pitchFamily="34" charset="0"/>
      <p:bold r:id="rId14"/>
    </p:embeddedFont>
    <p:embeddedFont>
      <p:font typeface="Sora Bold" pitchFamily="2" charset="0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D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 autoAdjust="0"/>
  </p:normalViewPr>
  <p:slideViewPr>
    <p:cSldViewPr snapToGrid="0" snapToObjects="1">
      <p:cViewPr>
        <p:scale>
          <a:sx n="66" d="100"/>
          <a:sy n="66" d="100"/>
        </p:scale>
        <p:origin x="8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766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Ledger: reliability infrastructure for LLM applications that proves changes before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production LLM updates run on manual spot checks, silent budget leaks, and unmonitored prompt vulnerabilities.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Telemetry, cost accounting, security heuristics, and golden set evaluations form an unbroken release validation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Criterion 1 is verified live on Rumpty Cloud: an asynchronous ingestion API running in Docker backed by managed Postgres.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verification stages from span emission to the automated regression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automated tests, 96 commits, and a zero-credential 60-second offline demo confirm reproducible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bundles tie directly to git commits and containers for portable auditing, while transparently noting current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90-day plan delivers signed packages, shadow traffic evaluation, and three design partner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93CD-DD98-5D3D-273E-03FF0F09B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DE14F-0AFC-22DD-F986-FDEA07A57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B17B6-A19D-3586-38BF-D0D85AC0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B4CCB-D2E3-954F-9AD9-BCC4FD915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7153E-C1D4-EC8E-229F-2F7A6A88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0254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9D51-B6A1-C5B1-A257-2DE63F28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468D-5AAF-1C7E-DFEB-D14B0F950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850EF-A2B4-6506-B40B-C653E25C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B7D49-5FF8-992C-2A5F-2E849015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64F4-701C-0C36-BFDA-408C580A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0425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47DE-2C46-D3AD-E862-72BA0AA22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AB720-8DD6-9B73-D3D5-EA400F56F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395D9-4898-1A5C-A94F-89B55C66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1B9C9-AF10-3CC1-1857-569FA791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2A394-B9E6-F7FF-F78B-DF64B4F4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195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2FF2-EA41-4C1B-FB5F-0FCEF145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9DCA3-9B02-656C-675B-40A98727B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154EF-B6E9-7DA9-09F7-4706144F4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FBF3A-8580-DE4F-FEDC-EF171894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6BC0B-3CA8-D152-1DEB-56528D61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05E4D-1117-27EA-9639-A1D45F01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646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1C69-0959-03C7-6B02-F8CC2D32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99236-66F2-8B76-EBB7-34B2EA09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2B6BB-D194-23B5-25CF-ACB48F8A6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9538E-21CA-44FF-A6F1-8302B85ED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BEC64-AA9B-DCD1-A5B1-8A67AA7A1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40B63-DE7D-CF64-8C7B-75282843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360E2-0418-134C-DF0D-46D429D8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7BD64-369E-5655-E0F9-1EA7ECCE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3012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1468-E3A5-A6E3-F3CE-307AE7D1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73AAF-6516-2976-BC10-360E0A0B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3D1CB-33C8-487E-28F5-11BB24E51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B47F5-B6B9-9939-0F06-48DA3B1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6021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F9DBC-8FFB-9C0B-AC22-B48CBD4E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F3074-8C13-1165-F21C-7DA9978A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F5825-2142-3A1E-D09C-3F5D9F9A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0489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2A26B-1160-C57E-820C-7781877B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4CE2-93E5-2F9B-F828-57328049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5262D-CEFB-CD4E-1556-6064A3871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B85FD-0910-8D89-662C-DCB9EFB5A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3FF71-C6EF-8141-214A-905E6BFB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C39AA-CF9C-5C72-6200-56C3BEF1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4322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8ED0-6388-5272-5B30-E3E784363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E1943-490E-0B59-127E-3D4515CE1C6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FC423-DA0E-C2A6-2F06-A0F39FD5E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CE06-2F17-474A-950A-48B03FD0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EEB8F-12E2-CC29-815F-A0469192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5E92B-52EB-6AA4-72CB-DE47F251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8261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AA83-7855-2250-0F0C-7064B69D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01956-A3DF-5CB6-FF8F-D88D3148A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C1FCC-D34E-D988-CF17-4F26AED1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30B3D-3C31-61BE-A5AA-C5C1932C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3EA0E-1FF6-6053-2FE2-766C977B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1758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4B4A6-5EEF-3B7F-8EE6-DAB9E84EA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44ED1-A53A-E89C-AFF5-CCE855746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D7302-9EA5-3119-87F6-57BA1D09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F552-3E0A-9483-2979-54898AB0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22550-A109-742E-3893-ED011E1C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2785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638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9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09A5E6-EB76-9E03-6C34-72205758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A598C-22A9-F701-68F4-4899F6C71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8ACB8-ECAD-F768-1676-5D2F6227C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68BA7-68BA-4608-8B7C-CC449A1109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8BF22-2249-94A4-60F6-309573140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A2B67-DB54-AF0C-4672-C973CC784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02E35-A7BB-4E6F-A478-8BB660636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95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dger-21394e.rumptycloud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4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18680"/>
            <a:ext cx="1137891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RELIABILITY INFRASTRUCTURE FOR LLM 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1129955"/>
            <a:ext cx="10769331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Ledger: prove an AI change didn't break anything before users see it.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11182" y="4626670"/>
            <a:ext cx="6820523" cy="1098748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3275" y="4848285"/>
            <a:ext cx="652843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Live production service: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3275" y="5260912"/>
            <a:ext cx="652843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https://ledger-21394e.rumptycloud.app/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49634" y="4626670"/>
            <a:ext cx="3230779" cy="1098748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49634" y="4835204"/>
            <a:ext cx="323077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Team Ethos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49634" y="5230840"/>
            <a:ext cx="323077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1182" y="5954018"/>
            <a:ext cx="2333269" cy="370582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9"/>
          <p:cNvSpPr/>
          <p:nvPr/>
        </p:nvSpPr>
        <p:spPr>
          <a:xfrm>
            <a:off x="711182" y="6047109"/>
            <a:ext cx="233326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Record each AI 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451" y="6120209"/>
            <a:ext cx="358964" cy="38100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403416" y="5954018"/>
            <a:ext cx="2333368" cy="370582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03416" y="6047109"/>
            <a:ext cx="2333368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Trace 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36784" y="6120209"/>
            <a:ext cx="358964" cy="38100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95748" y="5954018"/>
            <a:ext cx="2512850" cy="370582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95748" y="6047109"/>
            <a:ext cx="2512850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Evaluation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08599" y="6120209"/>
            <a:ext cx="358964" cy="38100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967662" y="5954018"/>
            <a:ext cx="2512751" cy="370582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967662" y="6047109"/>
            <a:ext cx="251275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Release gate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91680"/>
            <a:ext cx="1163290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OPERATIONAL DEFICIT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90547"/>
            <a:ext cx="11074123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AI teams ship updates without proof they didn't regress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2720677"/>
            <a:ext cx="3488146" cy="2657574"/>
          </a:xfrm>
          <a:prstGeom prst="roundRect">
            <a:avLst>
              <a:gd name="adj" fmla="val 3412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941" y="3000077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3699339"/>
            <a:ext cx="298015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Spot checks miss failures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780" y="4123111"/>
            <a:ext cx="2980159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Manual spot checks test fewer than ten prompts, missing breaking regressions across long-tail production inputs.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51725" y="2720677"/>
            <a:ext cx="3488146" cy="2657574"/>
          </a:xfrm>
          <a:prstGeom prst="roundRect">
            <a:avLst>
              <a:gd name="adj" fmla="val 3412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880" y="3000077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5718" y="3699339"/>
            <a:ext cx="298015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Cost hides until invoice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05718" y="4123111"/>
            <a:ext cx="2980159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Token and model cost spikes remain completely invisible until the monthly cloud provider bill arrives.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44663" y="2720677"/>
            <a:ext cx="3488246" cy="2657574"/>
          </a:xfrm>
          <a:prstGeom prst="roundRect">
            <a:avLst>
              <a:gd name="adj" fmla="val 3412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918" y="3000077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8657" y="3699339"/>
            <a:ext cx="298025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Injection goes unnoticed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98657" y="4123111"/>
            <a:ext cx="2980258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Adversarial payload overrides pass into production pipelines undetected without automated heuristic tagging.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91680"/>
            <a:ext cx="1163290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90547"/>
            <a:ext cx="11074123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Four parts turn runtime activity into release evidence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2552502"/>
            <a:ext cx="2539936" cy="2993926"/>
          </a:xfrm>
          <a:prstGeom prst="roundRect">
            <a:avLst>
              <a:gd name="adj" fmla="val 3570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981" y="2806502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1981" y="3108722"/>
            <a:ext cx="2133547" cy="38100"/>
          </a:xfrm>
          <a:prstGeom prst="rect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61981" y="3286589"/>
            <a:ext cx="2133547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Non-blocking telemetry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981" y="4069235"/>
            <a:ext cx="213354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SDK never slows the host app.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3515" y="2552502"/>
            <a:ext cx="2539936" cy="2993926"/>
          </a:xfrm>
          <a:prstGeom prst="roundRect">
            <a:avLst>
              <a:gd name="adj" fmla="val 3570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06710" y="2806502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06710" y="3108722"/>
            <a:ext cx="2133547" cy="38100"/>
          </a:xfrm>
          <a:prstGeom prst="rect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06710" y="3286589"/>
            <a:ext cx="2133547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Per-span cost attribution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06710" y="4069235"/>
            <a:ext cx="213354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Exact token accounting per execution.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2552502"/>
            <a:ext cx="2539936" cy="2993926"/>
          </a:xfrm>
          <a:prstGeom prst="roundRect">
            <a:avLst>
              <a:gd name="adj" fmla="val 3570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51439" y="2806502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51439" y="3108722"/>
            <a:ext cx="2133547" cy="38100"/>
          </a:xfrm>
          <a:prstGeom prst="rect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51439" y="3286589"/>
            <a:ext cx="213354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Injection tagging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51439" y="3767511"/>
            <a:ext cx="213354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Heuristic detection on prompt inputs.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92973" y="2552502"/>
            <a:ext cx="2539936" cy="2993926"/>
          </a:xfrm>
          <a:prstGeom prst="roundRect">
            <a:avLst>
              <a:gd name="adj" fmla="val 3570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296167" y="2806502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296167" y="3108722"/>
            <a:ext cx="2133547" cy="38100"/>
          </a:xfrm>
          <a:prstGeom prst="rect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296167" y="3286589"/>
            <a:ext cx="2133547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Automated release gate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96167" y="4069235"/>
            <a:ext cx="213354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Versioned answer evaluation keys block regressions.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96167" y="4948932"/>
            <a:ext cx="1333864" cy="343495"/>
          </a:xfrm>
          <a:prstGeom prst="roundRect">
            <a:avLst>
              <a:gd name="adj" fmla="val 49999"/>
            </a:avLst>
          </a:prstGeom>
          <a:solidFill>
            <a:srgbClr val="D8F3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425645" y="5026755"/>
            <a:ext cx="16844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Release Gate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5480"/>
            <a:ext cx="116837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DEPLOYED 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14347"/>
            <a:ext cx="1117572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Criterion 1: Live on Rumpty Cloud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87" y="1691640"/>
            <a:ext cx="4710689" cy="3657600"/>
          </a:xfrm>
          <a:prstGeom prst="roundRect">
            <a:avLst>
              <a:gd name="adj" fmla="val 3178"/>
            </a:avLst>
          </a:prstGeom>
          <a:noFill/>
          <a:ln w="25399">
            <a:solidFill>
              <a:srgbClr val="D2D0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12780" y="1975104"/>
            <a:ext cx="440589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API REFERENCE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2780" y="4562856"/>
            <a:ext cx="410110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Interactive OpenAPI spec mounted at /docs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780" y="4846320"/>
            <a:ext cx="440589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Two processes, one Docker image.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523370" y="1691640"/>
            <a:ext cx="6160338" cy="3657600"/>
          </a:xfrm>
          <a:prstGeom prst="roundRect">
            <a:avLst>
              <a:gd name="adj" fmla="val 3178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802763" y="1975104"/>
            <a:ext cx="588094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PIPELINE RUNTIME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2763" y="2551013"/>
            <a:ext cx="1790953" cy="534392"/>
          </a:xfrm>
          <a:prstGeom prst="roundRect">
            <a:avLst>
              <a:gd name="adj" fmla="val 16968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802763" y="2684109"/>
            <a:ext cx="179095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Host SDK 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6112" y="2551013"/>
            <a:ext cx="1714755" cy="534392"/>
          </a:xfrm>
          <a:prstGeom prst="roundRect">
            <a:avLst>
              <a:gd name="adj" fmla="val 16968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46112" y="2684109"/>
            <a:ext cx="171475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API (202) 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13263" y="2551013"/>
            <a:ext cx="1790953" cy="534392"/>
          </a:xfrm>
          <a:prstGeom prst="roundRect">
            <a:avLst>
              <a:gd name="adj" fmla="val 16968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613263" y="2684109"/>
            <a:ext cx="179095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PostgreSQL 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2763" y="3237805"/>
            <a:ext cx="1790953" cy="534392"/>
          </a:xfrm>
          <a:prstGeom prst="roundRect">
            <a:avLst>
              <a:gd name="adj" fmla="val 16968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802763" y="3370901"/>
            <a:ext cx="179095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Worker 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46112" y="3237805"/>
            <a:ext cx="1714755" cy="534392"/>
          </a:xfrm>
          <a:prstGeom prst="roundRect">
            <a:avLst>
              <a:gd name="adj" fmla="val 16968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746112" y="3370901"/>
            <a:ext cx="171475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Judge 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13263" y="3237805"/>
            <a:ext cx="1790953" cy="534392"/>
          </a:xfrm>
          <a:prstGeom prst="rect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613263" y="3370901"/>
            <a:ext cx="179095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Alerts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2763" y="4230795"/>
            <a:ext cx="5601552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Managed PostgreSQL job queue buffers incoming telemetry asynchronously.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07987" y="6064151"/>
            <a:ext cx="11175720" cy="463748"/>
          </a:xfrm>
          <a:prstGeom prst="roundRect">
            <a:avLst>
              <a:gd name="adj" fmla="val 46007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23882" y="6210137"/>
            <a:ext cx="10959826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“Running now, not on my laptop.”</a:t>
            </a:r>
            <a:endParaRPr lang="en-US" sz="1100" dirty="0"/>
          </a:p>
        </p:txBody>
      </p:sp>
      <p:pic>
        <p:nvPicPr>
          <p:cNvPr id="27" name="Screenshot: Ledger API interactive OpenAPI docs listing ingest, traces, eval and alerts endpoints" descr="Ledger API interactive OpenAPI docs listing ingest, traces, eval and alerts endpoi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304288"/>
            <a:ext cx="4105656" cy="2130552"/>
          </a:xfrm>
          <a:prstGeom prst="roundRect">
            <a:avLst>
              <a:gd name="adj" fmla="val 3000"/>
            </a:avLst>
          </a:prstGeom>
          <a:ln w="9525">
            <a:solidFill>
              <a:srgbClr val="CBD4CE"/>
            </a:solidFill>
          </a:ln>
          <a:effectLst>
            <a:outerShdw blurRad="254000" dist="76200" dir="5400000" algn="t" rotWithShape="0">
              <a:srgbClr val="174D3B">
                <a:alpha val="14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0880"/>
            <a:ext cx="116837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PRODUCT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39747"/>
            <a:ext cx="1117572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Demo: from span to release gate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87" y="1920240"/>
            <a:ext cx="2565336" cy="3246120"/>
          </a:xfrm>
          <a:prstGeom prst="roundRect">
            <a:avLst>
              <a:gd name="adj" fmla="val 3535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60383" y="3959352"/>
            <a:ext cx="226054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1. Record each AI call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0383" y="4389120"/>
            <a:ext cx="22605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Non-blocking SDK transmits spans in sub-millisecond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78115" y="1920240"/>
            <a:ext cx="2565336" cy="3246120"/>
          </a:xfrm>
          <a:prstGeom prst="roundRect">
            <a:avLst>
              <a:gd name="adj" fmla="val 3535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530512" y="3959352"/>
            <a:ext cx="226054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2. Trace cost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30512" y="4389120"/>
            <a:ext cx="22605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Exact token consumption calculated for every span.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1920240"/>
            <a:ext cx="2565336" cy="3246120"/>
          </a:xfrm>
          <a:prstGeom prst="roundRect">
            <a:avLst>
              <a:gd name="adj" fmla="val 3535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640" y="3959352"/>
            <a:ext cx="226054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3. Evaluation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640" y="4389120"/>
            <a:ext cx="22605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Automated evaluation scores golden test set prompts.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18372" y="1920240"/>
            <a:ext cx="2565336" cy="3246120"/>
          </a:xfrm>
          <a:prstGeom prst="roundRect">
            <a:avLst>
              <a:gd name="adj" fmla="val 3535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270768" y="3959352"/>
            <a:ext cx="226054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4. Release gate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70768" y="4389120"/>
            <a:ext cx="22605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CI checks fail if quality degrades or costs spike.</a:t>
            </a:r>
            <a:endParaRPr lang="en-US" sz="1400" dirty="0"/>
          </a:p>
        </p:txBody>
      </p:sp>
      <p:pic>
        <p:nvPicPr>
          <p:cNvPr id="24" name="Screenshot: Traces table listing each recorded AI call with status and model" descr="Traces table listing each recorded AI call with status and 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63" y="2075688"/>
            <a:ext cx="2276856" cy="1709928"/>
          </a:xfrm>
          <a:prstGeom prst="roundRect">
            <a:avLst>
              <a:gd name="adj" fmla="val 4500"/>
            </a:avLst>
          </a:prstGeom>
          <a:ln w="9525">
            <a:solidFill>
              <a:srgbClr val="CBD4CE"/>
            </a:solidFill>
          </a:ln>
          <a:effectLst>
            <a:outerShdw blurRad="254000" dist="76200" dir="5400000" algn="t" rotWithShape="0">
              <a:srgbClr val="174D3B">
                <a:alpha val="14000"/>
              </a:srgbClr>
            </a:outerShdw>
          </a:effectLst>
        </p:spPr>
      </p:pic>
      <p:pic>
        <p:nvPicPr>
          <p:cNvPr id="25" name="Screenshot: Spend by model panel showing per-model cost at list prices" descr="Spend by model panel showing per-model cost at list pri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991" y="2075688"/>
            <a:ext cx="2276856" cy="1709928"/>
          </a:xfrm>
          <a:prstGeom prst="roundRect">
            <a:avLst>
              <a:gd name="adj" fmla="val 4500"/>
            </a:avLst>
          </a:prstGeom>
          <a:ln w="9525">
            <a:solidFill>
              <a:srgbClr val="CBD4CE"/>
            </a:solidFill>
          </a:ln>
          <a:effectLst>
            <a:outerShdw blurRad="254000" dist="76200" dir="5400000" algn="t" rotWithShape="0">
              <a:srgbClr val="174D3B">
                <a:alpha val="14000"/>
              </a:srgbClr>
            </a:outerShdw>
          </a:effectLst>
        </p:spPr>
      </p:pic>
      <p:pic>
        <p:nvPicPr>
          <p:cNvPr id="26" name="Screenshot: Evaluation score chart dropping below the release gate" descr="Evaluation score chart dropping below the release g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120" y="2075688"/>
            <a:ext cx="2276856" cy="1709928"/>
          </a:xfrm>
          <a:prstGeom prst="roundRect">
            <a:avLst>
              <a:gd name="adj" fmla="val 4500"/>
            </a:avLst>
          </a:prstGeom>
          <a:ln w="9525">
            <a:solidFill>
              <a:srgbClr val="CBD4CE"/>
            </a:solidFill>
          </a:ln>
          <a:effectLst>
            <a:outerShdw blurRad="254000" dist="76200" dir="5400000" algn="t" rotWithShape="0">
              <a:srgbClr val="174D3B">
                <a:alpha val="14000"/>
              </a:srgbClr>
            </a:outerShdw>
          </a:effectLst>
        </p:spPr>
      </p:pic>
      <p:pic>
        <p:nvPicPr>
          <p:cNvPr id="27" name="Screenshot: Evaluation run marked Regressed: score 47.5 against gate 85.0" descr="Evaluation run marked Regressed: score 47.5 against gate 85.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9247" y="2075688"/>
            <a:ext cx="2276856" cy="1709928"/>
          </a:xfrm>
          <a:prstGeom prst="roundRect">
            <a:avLst>
              <a:gd name="adj" fmla="val 4500"/>
            </a:avLst>
          </a:prstGeom>
          <a:ln w="9525">
            <a:solidFill>
              <a:srgbClr val="CBD4CE"/>
            </a:solidFill>
          </a:ln>
          <a:effectLst>
            <a:outerShdw blurRad="254000" dist="76200" dir="5400000" algn="t" rotWithShape="0">
              <a:srgbClr val="174D3B">
                <a:alpha val="14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40880"/>
            <a:ext cx="116837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39747"/>
            <a:ext cx="1117572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Cost, risk and quality in one 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12064" y="1600200"/>
            <a:ext cx="3493008" cy="1371600"/>
          </a:xfrm>
          <a:prstGeom prst="roundRect">
            <a:avLst>
              <a:gd name="adj" fmla="val 3535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5"/>
          <p:cNvSpPr/>
          <p:nvPr/>
        </p:nvSpPr>
        <p:spPr>
          <a:xfrm>
            <a:off x="731520" y="1801368"/>
            <a:ext cx="31089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Spend by model</a:t>
            </a:r>
            <a:endParaRPr lang="en-US" sz="1800" dirty="0"/>
          </a:p>
        </p:txBody>
      </p:sp>
      <p:sp>
        <p:nvSpPr>
          <p:cNvPr id="6" name="Text 6"/>
          <p:cNvSpPr/>
          <p:nvPr/>
        </p:nvSpPr>
        <p:spPr>
          <a:xfrm>
            <a:off x="731520" y="22219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Every trace priced at list rates and rolled up per model.</a:t>
            </a:r>
            <a:endParaRPr lang="en-US" sz="1400" dirty="0"/>
          </a:p>
        </p:txBody>
      </p:sp>
      <p:sp>
        <p:nvSpPr>
          <p:cNvPr id="7" name="Shape 2"/>
          <p:cNvSpPr/>
          <p:nvPr/>
        </p:nvSpPr>
        <p:spPr>
          <a:xfrm>
            <a:off x="512064" y="3200400"/>
            <a:ext cx="3493008" cy="1371600"/>
          </a:xfrm>
          <a:prstGeom prst="roundRect">
            <a:avLst>
              <a:gd name="adj" fmla="val 3535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31520" y="3401568"/>
            <a:ext cx="31089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Evaluation gate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822191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run is scored against its gate, so a drop is visible at once.</a:t>
            </a:r>
            <a:endParaRPr lang="en-US" sz="1400" dirty="0"/>
          </a:p>
        </p:txBody>
      </p:sp>
      <p:sp>
        <p:nvSpPr>
          <p:cNvPr id="10" name="Shape 2"/>
          <p:cNvSpPr/>
          <p:nvPr/>
        </p:nvSpPr>
        <p:spPr>
          <a:xfrm>
            <a:off x="512064" y="4800600"/>
            <a:ext cx="3493008" cy="1371600"/>
          </a:xfrm>
          <a:prstGeom prst="roundRect">
            <a:avLst>
              <a:gd name="adj" fmla="val 3535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5"/>
          <p:cNvSpPr/>
          <p:nvPr/>
        </p:nvSpPr>
        <p:spPr>
          <a:xfrm>
            <a:off x="731520" y="5001768"/>
            <a:ext cx="31089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Regression alerts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31520" y="54223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Runs that fall below their gate surface as alerts.</a:t>
            </a:r>
            <a:endParaRPr lang="en-US" sz="1400" dirty="0"/>
          </a:p>
        </p:txBody>
      </p:sp>
      <p:pic>
        <p:nvPicPr>
          <p:cNvPr id="13" name="Screenshot: Ledger dashboard overview: traces, spend, eval pass rate, injection risk, evaluation score chart and spend by model" descr="Ledger dashboard overview: traces, spend, eval pass rate, injection risk, evaluation score chart and spend by 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00200"/>
            <a:ext cx="7315200" cy="4572000"/>
          </a:xfrm>
          <a:prstGeom prst="roundRect">
            <a:avLst>
              <a:gd name="adj" fmla="val 2000"/>
            </a:avLst>
          </a:prstGeom>
          <a:ln w="9525">
            <a:solidFill>
              <a:srgbClr val="CBD4CE"/>
            </a:solidFill>
          </a:ln>
          <a:effectLst>
            <a:outerShdw blurRad="254000" dist="76200" dir="5400000" algn="t" rotWithShape="0">
              <a:srgbClr val="174D3B">
                <a:alpha val="14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66280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ENGINEERING INTEGRITY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65147"/>
            <a:ext cx="11124922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Criterion 2: Code and documentation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3387" y="1922165"/>
            <a:ext cx="3505112" cy="1823442"/>
          </a:xfrm>
          <a:prstGeom prst="roundRect">
            <a:avLst>
              <a:gd name="adj" fmla="val 11701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4681" y="2188865"/>
            <a:ext cx="302252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55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4681" y="2956199"/>
            <a:ext cx="326381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Offline tests in CI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4681" y="3351645"/>
            <a:ext cx="3263818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Passing hermetic test suite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291" y="1922165"/>
            <a:ext cx="3505112" cy="1823442"/>
          </a:xfrm>
          <a:prstGeom prst="roundRect">
            <a:avLst>
              <a:gd name="adj" fmla="val 11701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84585" y="2188865"/>
            <a:ext cx="302252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96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84585" y="2956199"/>
            <a:ext cx="326381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Git commits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4585" y="3351645"/>
            <a:ext cx="3263818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Documented repository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3196" y="1922165"/>
            <a:ext cx="3505112" cy="1823442"/>
          </a:xfrm>
          <a:prstGeom prst="roundRect">
            <a:avLst>
              <a:gd name="adj" fmla="val 11701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94490" y="2188865"/>
            <a:ext cx="302252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60 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94490" y="2956199"/>
            <a:ext cx="326381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Offline demo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94490" y="3351645"/>
            <a:ext cx="3263818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Zero database or external API keys needed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3387" y="3948807"/>
            <a:ext cx="5410065" cy="1332012"/>
          </a:xfrm>
          <a:prstGeom prst="roundRect">
            <a:avLst>
              <a:gd name="adj" fmla="val 6807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1981" y="4136894"/>
            <a:ext cx="495287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Frozen API contract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1981" y="4617815"/>
            <a:ext cx="518147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Deterministic endpoints guarantee stable integration.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8244" y="3948807"/>
            <a:ext cx="5410065" cy="1332012"/>
          </a:xfrm>
          <a:prstGeom prst="roundRect">
            <a:avLst>
              <a:gd name="adj" fmla="val 6807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76838" y="4136894"/>
            <a:ext cx="495287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Deployment guide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76838" y="4617815"/>
            <a:ext cx="4952876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Reproducible container instructions run in any standard runtime.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3387" y="6013351"/>
            <a:ext cx="11124922" cy="463748"/>
          </a:xfrm>
          <a:prstGeom prst="roundRect">
            <a:avLst>
              <a:gd name="adj" fmla="val 46007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49281" y="6159337"/>
            <a:ext cx="1090902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“Another developer can run this.”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40880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174D3B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AUDITABLE ARTIFACTS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39747"/>
            <a:ext cx="11124922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Criterion 3: Release evidence that travels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3387" y="2770386"/>
            <a:ext cx="5049414" cy="1484412"/>
          </a:xfrm>
          <a:prstGeom prst="roundRect">
            <a:avLst>
              <a:gd name="adj" fmla="val 6109"/>
            </a:avLst>
          </a:prstGeom>
          <a:solidFill>
            <a:srgbClr val="ECE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380" y="3009273"/>
            <a:ext cx="454142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Commit-bound evidence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7380" y="3490194"/>
            <a:ext cx="4541426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Artifacts bind to exact git commit hashes, container digests, and runtime models. Export and verify offline.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87493" y="2770386"/>
            <a:ext cx="5770815" cy="1484412"/>
          </a:xfrm>
          <a:prstGeom prst="roundRect">
            <a:avLst>
              <a:gd name="adj" fmla="val 6109"/>
            </a:avLst>
          </a:prstGeom>
          <a:noFill/>
          <a:ln w="25399">
            <a:solidFill>
              <a:srgbClr val="D2D0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166886" y="3034673"/>
            <a:ext cx="521202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Known operational limits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66886" y="3515594"/>
            <a:ext cx="5212029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Cost estimates are not provider invoices; export packages remain unsigned; prompt injection tagging relies on heuristics.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3387" y="4432598"/>
            <a:ext cx="11124922" cy="463748"/>
          </a:xfrm>
          <a:prstGeom prst="roundRect">
            <a:avLst>
              <a:gd name="adj" fmla="val 46007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49281" y="4578584"/>
            <a:ext cx="1090902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Customer validation: not yet started.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4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67880"/>
            <a:ext cx="1148051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EXECUTION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0383" y="866747"/>
            <a:ext cx="1087092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Next 90 days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0383" y="3327995"/>
            <a:ext cx="10870928" cy="28575"/>
          </a:xfrm>
          <a:prstGeom prst="roundRect">
            <a:avLst>
              <a:gd name="adj" fmla="val 49999"/>
            </a:avLst>
          </a:prstGeom>
          <a:solidFill>
            <a:srgbClr val="D2D0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96361" y="2896195"/>
            <a:ext cx="28574" cy="431800"/>
          </a:xfrm>
          <a:prstGeom prst="roundRect">
            <a:avLst>
              <a:gd name="adj" fmla="val 50000"/>
            </a:avLst>
          </a:prstGeom>
          <a:solidFill>
            <a:srgbClr val="D2D0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29688" y="3247033"/>
            <a:ext cx="161921" cy="161925"/>
          </a:xfrm>
          <a:prstGeom prst="ellipse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76278" y="1653381"/>
            <a:ext cx="4868741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Day 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6278" y="2084586"/>
            <a:ext cx="486874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GB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Sign each report so nobody can alter it unnoticed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81560" y="3327995"/>
            <a:ext cx="28574" cy="431800"/>
          </a:xfrm>
          <a:prstGeom prst="roundRect">
            <a:avLst>
              <a:gd name="adj" fmla="val 50000"/>
            </a:avLst>
          </a:prstGeom>
          <a:solidFill>
            <a:srgbClr val="D2D0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014887" y="3247033"/>
            <a:ext cx="161921" cy="161925"/>
          </a:xfrm>
          <a:prstGeom prst="ellipse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61477" y="3975695"/>
            <a:ext cx="4868741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Day 60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61477" y="4406900"/>
            <a:ext cx="486874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GB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Test new AI versions beside the old one on real traffic and compare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866759" y="2896195"/>
            <a:ext cx="28574" cy="431800"/>
          </a:xfrm>
          <a:prstGeom prst="roundRect">
            <a:avLst>
              <a:gd name="adj" fmla="val 50000"/>
            </a:avLst>
          </a:prstGeom>
          <a:solidFill>
            <a:srgbClr val="D2D0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800086" y="3247033"/>
            <a:ext cx="161921" cy="161925"/>
          </a:xfrm>
          <a:prstGeom prst="ellipse">
            <a:avLst/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46676" y="1653381"/>
            <a:ext cx="4868741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Day 90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676" y="2084586"/>
            <a:ext cx="486874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First three pilot design partners integrated in CI/CD.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0383" y="5364758"/>
            <a:ext cx="6884914" cy="1010642"/>
          </a:xfrm>
          <a:prstGeom prst="roundRect">
            <a:avLst>
              <a:gd name="adj" fmla="val 21111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174D3B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52476" y="5585992"/>
            <a:ext cx="659282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Prove AI changes before users see regressions.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2476" y="5981438"/>
            <a:ext cx="6592822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u="sng" dirty="0">
                <a:solidFill>
                  <a:srgbClr val="174D3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https://ledger-21394e.rumptycloud.app/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69974" y="5364758"/>
            <a:ext cx="3261239" cy="1010642"/>
          </a:xfrm>
          <a:prstGeom prst="roundRect">
            <a:avLst>
              <a:gd name="adj" fmla="val 49999"/>
            </a:avLst>
          </a:prstGeom>
          <a:solidFill>
            <a:srgbClr val="174D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269974" y="5769479"/>
            <a:ext cx="3261239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Contact &amp; Diligence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673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IBM Plex Sans SemiBold</vt:lpstr>
      <vt:lpstr>Arial</vt:lpstr>
      <vt:lpstr>Aptos Display</vt:lpstr>
      <vt:lpstr>Aptos</vt:lpstr>
      <vt:lpstr>Sora Bold</vt:lpstr>
      <vt:lpstr>IBM Plex Sans Bold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Fisayo Obadina</cp:lastModifiedBy>
  <cp:revision>2</cp:revision>
  <dcterms:created xsi:type="dcterms:W3CDTF">2026-10-29T22:01:07Z</dcterms:created>
  <dcterms:modified xsi:type="dcterms:W3CDTF">2026-10-30T18:37:36Z</dcterms:modified>
</cp:coreProperties>
</file>